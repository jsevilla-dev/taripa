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94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 2 FINAL PROJECT DEFENSE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TARIPA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Apartment Electricity &amp; Water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Sub-Meter Billing Management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31546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full-stack relational database platform for accurate sub-meter computation, interactive 3D building telemetry, and transparent tenant billing.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4434840"/>
            <a:ext cx="5303520" cy="1691640"/>
          </a:xfrm>
          <a:prstGeom prst="roundRect">
            <a:avLst>
              <a:gd name="adj" fmla="val 81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7200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PROPONENTS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James Sevilla  ·  Lorrely Paga
</a:t>
            </a:r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&amp; INSTRUCTOR
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Management 2 (IM 2)  ·  Prof. Xerxes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777240"/>
            <a:ext cx="5486400" cy="5349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10" name="Image 0" descr="C:\Users\Anastacia\.gemini\antigravity\brain\b231025d-bdec-4ae6-abf4-6612b4e70062\.user_uploaded\media_1791716225010_fcbfa63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868680"/>
            <a:ext cx="530352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Manual Sub-Meter Billing Fails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Addressing the pain points of apartment landlords and dormitory tenants in the Philippines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534924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8105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Prone to Manual Computation Errors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Landlords manually subtract Previous from Current meter readings and multiply by changing Meralco and Maynilad rates using paper notebooks or error-prone spreadsheets.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34924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7830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18105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Tenant Billing Transparency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frequently dispute utility charges because they cannot verify their previous vs. present sub-meter readings or see how their kWh and Cu.M costs were calculated.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534924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114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41422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&amp; Unnormalized Records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75488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Room capacities, bedspace occupancy, monthly meter logs, and payment statuses (Paid, Pending, Overdue) are scattered without relational foreign-key integrity.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886200"/>
            <a:ext cx="534924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4114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41422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Access Control &amp; Audit Trail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46520" y="475488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receipts and shared spreadsheets lack Role-Based Access Control (RBAC), brute-force login protection, and verifiable official payment receipts.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PROJECT 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TARIPA Solution &amp; Key Innovations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Combining relational database accuracy with modern 3D visualization and self-service transparency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09728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09928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09928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0" y="165506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Sub-Meter Computation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19842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 fetches previous readings, validates against meter rollback, computes exact kWh &amp; Cu.M usage, and applies active Meralco and Maynilad rates.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715768"/>
            <a:ext cx="109728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916936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16936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DIGITAL TWIN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0" y="28620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3D Building Floor Plan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3191256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Visualizes the boarding house in an isometric 3D view with Meralco power &amp; Maynilad water grid lines, 6-room floor capacity tracking, and live room telemetry.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922776"/>
            <a:ext cx="109728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123944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23944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0" y="4069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Tenant Portal &amp; Odometer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43200" y="43982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Auto-provisions tenant accounts with a Digital Sub-Meter Odometer (PREV → PRES verification), 6-month usage trends, and printable Official Receipts.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129784"/>
            <a:ext cx="109728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330952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30952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DB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0" y="527608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3NF MySQL Integrity &amp; SAST Security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743200" y="560527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Enforces strict foreign-key rules (CASCADE / SET NULL), 100% prepared statements against SQL injection, and HS256 JWT Role-Based Access Control.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3-Tier Full-Stack Software Architecture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separation of concerns across Presentation, Application API, and Relational Database layers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0972800" cy="1389888"/>
          </a:xfrm>
          <a:prstGeom prst="roundRect">
            <a:avLst>
              <a:gd name="adj" fmla="val 10526"/>
            </a:avLst>
          </a:prstGeom>
          <a:solidFill>
            <a:srgbClr val="2563EB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1907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01 · PRESENTATION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Vite Single Page Application (Frontend)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68680" y="235915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Liquid Glass Admin Dashboard, Interactive SVG 3D Isometric Building Digital Twin, collapsible Icon-Rail Sidebar, and Mobile-First Tenant Portal.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182112"/>
            <a:ext cx="10332720" cy="1389888"/>
          </a:xfrm>
          <a:prstGeom prst="roundRect">
            <a:avLst>
              <a:gd name="adj" fmla="val 10526"/>
            </a:avLst>
          </a:prstGeom>
          <a:solidFill>
            <a:srgbClr val="1D4ED8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346704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02 · APPLICATION &amp; SECURITY LAYER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59359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Express 5 RESTful API (Backend)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88720" y="398678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Stateless JWT HS256 authentication, separate adminAuth &amp; clientAuth RBAC middlewares, 5-attempt brute-force lockout limiter, and server-side billing validation.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34440" y="4809744"/>
            <a:ext cx="9692640" cy="1389888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4974336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03 · RELATIONAL DATA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5221224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8.0 Relational Database (taripa_db)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08760" y="5614416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normalized tables in 3rd Normal Form (3NF) using mysql2/promise connection pooling, foreign-key referential integrity, and 100% prepared statements.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DATABASE DESIGN (IM 2 CORE)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5-Table Normalized Relational Schema (taripa_db)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in Third Normal Form (3NF) with strict Foreign Key constraints and SQL JOIN aggregations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562356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727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rooms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08960" y="1591056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ENTITY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865376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room_number (UNIQUE), capacity (1–30 beds, 6 rooms/floor), and monthly base rent.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468880"/>
            <a:ext cx="562356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tenants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08960" y="2578608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FK: room_id → rooms(id) ON DELETE SET NULL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852928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resident full_name, contact_number, move_in_date, and status (Active / Inactive).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456432"/>
            <a:ext cx="562356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478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tenant_accounts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08960" y="3566160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FK: tenant_id → tenants(id) ON DELETE CASCADE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84048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1:1 credentials table storing auto-generated @username and BCrypt password_hash (10 salt rounds).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443984"/>
            <a:ext cx="562356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53542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utility_rates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08960" y="4553712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LOOKUP ENTITY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828032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active Meralco Electricity (₱/kWh) and Maynilad Water (₱/Cu.M) tariff rates per unit.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5431536"/>
            <a:ext cx="562356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5229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meter_readings &amp; billing_records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108960" y="5541264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FK: tenant_id → tenants(id) ON DELETE CASCADE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5815584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monthly PREV &amp; PRES sub-meter readings, computed kWh/Cu.M usage, itemized charges, and payment status.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1481328"/>
            <a:ext cx="5193792" cy="48463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pic>
        <p:nvPicPr>
          <p:cNvPr id="27" name="Image 0" descr="C:\Users\Anastacia\.gemini\antigravity\brain\b231025d-bdec-4ae6-abf4-6612b4e70062\.user_uploaded\media_1791716316961_c803d0d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3952" y="1554480"/>
            <a:ext cx="5047488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ADMIN OPERATIONS &amp; 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Dashboard &amp; Automated Billing Workflow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KPI tracking, 12-Month Collections Trend Bar Graph, and one-click monthly invoice generation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3677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Room &amp; Capacity Control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194767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Enforces bedspace limits per room and prevents assigning tenants to full units.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715768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437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Zero-Touch Provisioning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Registering a tenant auto-generates their @username and hashed portal password.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922776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507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Smart Meter Validation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36168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Auto-fills previous readings and blocks invalid meter rollbacks (Current &lt; Previous).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5129784"/>
            <a:ext cx="41605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25780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12-Month Revenue Analytics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556869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monthly Rent, Electricity, and Water collections right on the Dashboard bar graph.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37760" y="1508760"/>
            <a:ext cx="6656832" cy="4709160"/>
          </a:xfrm>
          <a:prstGeom prst="roundRect">
            <a:avLst>
              <a:gd name="adj" fmla="val 3107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pic>
        <p:nvPicPr>
          <p:cNvPr id="19" name="Image 0" descr="C:\Users\Anastacia\.gemini\antigravity\brain\b231025d-bdec-4ae6-abf4-6612b4e70062\.user_uploaded\media_1791716303107_3732084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10912" y="1581912"/>
            <a:ext cx="6510528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FEATURE SPOTLIGHT #1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3D Building Digital Twin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isometric floor plan with Meralco &amp; Maynilad grid lines and per-room sub-meter telemetry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8249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Meralco &amp; Maynilad Grid Simulation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Visualizes animated electricity and water distribution lines flowing from the Main Grid Hub (with Meralco &amp; Maynilad service trucks) into each occupied room.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94360" y="310896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5526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6-Room Floor Capacity &amp; Cutaway View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584448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1st Floor (6/6 capacity) and 2nd Floor switching, roof cutaway toggle, and zoom controls.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94360" y="4681728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8280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Room Telemetry Inspector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5157216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Clicking any 3D room unit displays bedspace occupancy slots (#1, #2), live kWh &amp; Cu.M consumption, and active tenant profiles.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4937760" y="1536192"/>
            <a:ext cx="6656832" cy="4709160"/>
          </a:xfrm>
          <a:prstGeom prst="roundRect">
            <a:avLst>
              <a:gd name="adj" fmla="val 3107"/>
            </a:avLst>
          </a:prstGeom>
          <a:solidFill>
            <a:srgbClr val="FFFFFF"/>
          </a:solidFill>
          <a:ln w="22860">
            <a:solidFill>
              <a:srgbClr val="2563EB"/>
            </a:solidFill>
            <a:prstDash val="solid"/>
          </a:ln>
        </p:spPr>
      </p:sp>
      <p:pic>
        <p:nvPicPr>
          <p:cNvPr id="16" name="Image 0" descr="C:\Users\Anastacia\.gemini\antigravity\brain\b231025d-bdec-4ae6-abf4-6612b4e70062\.user_uploaded\media_1791716225010_fcbfa63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10912" y="1609344"/>
            <a:ext cx="6510528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FEATURE SPOTLIGHT #2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Self-Service Portal &amp; Sub-Meter Odometer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residents with verifiable meter readings, consumption gauges, and instant digital receipts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8249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Sub-Meter Odometer Card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Displays exact PREV → PRES sub-meter readings for Electricity (kWh) and Water (Cu.M) with a live Synced verification badge so tenants can verify their physical room meters.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94360" y="310896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5526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Itemized Bill Breakdown &amp; Gauges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584448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exact formula computations (kWh × Rate and Cu.M × Rate) alongside 6-month usage trend comparisons.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94360" y="4681728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8280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Payment &amp; Printable Receipt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5157216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Allows tenants to settle bills via GCash, Maya, or Bank Transfer and generate an Official Receipt PDF.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4937760" y="1536192"/>
            <a:ext cx="6656832" cy="4709160"/>
          </a:xfrm>
          <a:prstGeom prst="roundRect">
            <a:avLst>
              <a:gd name="adj" fmla="val 3107"/>
            </a:avLst>
          </a:prstGeom>
          <a:solidFill>
            <a:srgbClr val="FFFFFF"/>
          </a:solidFill>
          <a:ln w="22860">
            <a:solidFill>
              <a:srgbClr val="2563EB"/>
            </a:solidFill>
            <a:prstDash val="solid"/>
          </a:ln>
        </p:spPr>
      </p:sp>
      <p:pic>
        <p:nvPicPr>
          <p:cNvPr id="16" name="Image 0" descr="C:\Users\Anastacia\.gemini\antigravity\brain\b231025d-bdec-4ae6-abf4-6612b4e70062\.user_uploaded\media_1791716440434_8726aec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10912" y="1609344"/>
            <a:ext cx="6510528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CYBERSECURITY &amp; DATA PRIVACY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SAST Security Audit &amp; Defensive Hardening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Audited and hardened against OWASP Top 10 web and API vulnerabilities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0292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1848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SQL Injection Immunity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192938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SQL queries across all 7 backend route modules use parameterized prepared statements (?) via mysql2/promise.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715768"/>
            <a:ext cx="50292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2549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HS256 Pinning &amp; RBAC / IDOR Guard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13639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adminAuth and clientAuth middlewares pinned to HS256; tenants can only access their own verified req.clientTenantId.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922776"/>
            <a:ext cx="50292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3250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Brute-Force Lockout &amp; DoS Guards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5-attempt login rate limiter with a 30-second lockout (HTTP 429), strict JSON string/length validation, and a 100KB payload limit.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5129784"/>
            <a:ext cx="50292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2395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Security Headers &amp; XSS Escaping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555040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with X-Frame-Options: DENY, X-Content-Type-Options: nosniff, and HTML escaping on printable billing statements.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1508760"/>
            <a:ext cx="5788152" cy="4709160"/>
          </a:xfrm>
          <a:prstGeom prst="roundRect">
            <a:avLst>
              <a:gd name="adj" fmla="val 3107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pic>
        <p:nvPicPr>
          <p:cNvPr id="19" name="Image 0" descr="C:\Users\Anastacia\.gemini\antigravity\brain\b231025d-bdec-4ae6-abf4-6612b4e70062\.user_uploaded\media_1791716238254_2bb59dd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79592" y="1581912"/>
            <a:ext cx="5641848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CONCLUSION &amp; LIVE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Live System Demonstration Flow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Transitioning from presentation slides to our live full-stack TARIPA demonstration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2606040" cy="32918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778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100584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Dashboard &amp; Analytics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Showcase real-time KPIs, the 12-Month Collections Trend Bar Graph, and the collapsible Icon-Rail Sidebar.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606040" cy="32918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778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920240"/>
            <a:ext cx="100584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9202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244144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Building Digital Twin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1089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Demonstrate the interactive isometric building view, Meralco &amp; Maynilad grid lines, and Room 101 telemetry.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691640"/>
            <a:ext cx="2606040" cy="32918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778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920240"/>
            <a:ext cx="100584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9202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44144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&amp; Sub-Meter Workflow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1089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a tenant, log sub-meter readings with rollback protection, and generate monthly utility invoices.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61120" y="1691640"/>
            <a:ext cx="2606040" cy="32918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778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1920240"/>
            <a:ext cx="100584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9202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89720" y="244144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Portal &amp; Official Receipt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89720" y="31089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as a tenant, verify PREV → PRES readings on the Digital Odometer, pay via GCash, and print the Official Receipt.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5257800"/>
            <a:ext cx="10972800" cy="96012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257800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We are now ready for the Live System Demonstration &amp; Panel Q&amp;A.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TARIPA - IM 2 Project Defense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TARIPA: Apartment Electricity &amp; Water Sub-Meter Billing Management System</dc:title>
  <dc:subject>PptxGenJS Presentation</dc:subject>
  <dc:creator>James Sevilla &amp; Lorrely</dc:creator>
  <cp:lastModifiedBy>James Sevilla &amp; Lorrely</cp:lastModifiedBy>
  <cp:revision>1</cp:revision>
  <dcterms:created xsi:type="dcterms:W3CDTF">2026-10-11T11:03:25Z</dcterms:created>
  <dcterms:modified xsi:type="dcterms:W3CDTF">2026-10-11T11:03:25Z</dcterms:modified>
</cp:coreProperties>
</file>